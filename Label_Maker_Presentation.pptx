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5" r:id="rId4"/>
    <p:sldId id="266" r:id="rId5"/>
    <p:sldId id="258" r:id="rId6"/>
    <p:sldId id="260" r:id="rId7"/>
    <p:sldId id="264" r:id="rId8"/>
    <p:sldId id="261" r:id="rId9"/>
    <p:sldId id="263" r:id="rId10"/>
    <p:sldId id="262" r:id="rId11"/>
    <p:sldId id="259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12E5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/>
    <p:restoredTop sz="94694"/>
  </p:normalViewPr>
  <p:slideViewPr>
    <p:cSldViewPr snapToGrid="0" snapToObjects="1">
      <p:cViewPr>
        <p:scale>
          <a:sx n="94" d="100"/>
          <a:sy n="94" d="100"/>
        </p:scale>
        <p:origin x="1296" y="7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11/25/25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gtpricetags.com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Slide Background Fill">
            <a:extLst>
              <a:ext uri="{FF2B5EF4-FFF2-40B4-BE49-F238E27FC236}">
                <a16:creationId xmlns:a16="http://schemas.microsoft.com/office/drawing/2014/main" id="{7D07B7BC-3270-4CF3-A7AA-0937908AD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08BB4D4-D71A-48F5-B2D2-45D2D78F4C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1714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F287CCC2-896F-4F04-A017-737FB703FD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821DD70C-9C59-4A01-BF0B-C027B5BCAF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4" name="Picture 3">
            <a:extLst>
              <a:ext uri="{FF2B5EF4-FFF2-40B4-BE49-F238E27FC236}">
                <a16:creationId xmlns:a16="http://schemas.microsoft.com/office/drawing/2014/main" id="{3D7E616D-CA8A-D9FF-D24D-376712E83C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8616" y="-29303"/>
            <a:ext cx="8170009" cy="2593975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6" name="Title 5">
            <a:extLst>
              <a:ext uri="{FF2B5EF4-FFF2-40B4-BE49-F238E27FC236}">
                <a16:creationId xmlns:a16="http://schemas.microsoft.com/office/drawing/2014/main" id="{837C79D7-CD00-EAA1-56B0-BD22FE1961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6607" y="3155086"/>
            <a:ext cx="4072687" cy="275174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</a:pPr>
            <a:r>
              <a:rPr lang="en-US" sz="4200" kern="1200" dirty="0">
                <a:solidFill>
                  <a:schemeClr val="bg1"/>
                </a:solidFill>
                <a:latin typeface="+mj-lt"/>
                <a:ea typeface="+mj-ea"/>
                <a:cs typeface="+mj-cs"/>
              </a:rPr>
              <a:t>Product Deck &amp; Support Documentation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49294" y="3211298"/>
            <a:ext cx="4072687" cy="2778231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 defTabSz="914400">
              <a:lnSpc>
                <a:spcPct val="90000"/>
              </a:lnSpc>
              <a:defRPr sz="1800">
                <a:solidFill>
                  <a:srgbClr val="333333"/>
                </a:solidFill>
                <a:latin typeface="Arial"/>
              </a:defRPr>
            </a:pPr>
            <a:br>
              <a:rPr lang="en-US" sz="1800" b="1" cap="all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</a:br>
            <a:r>
              <a:rPr lang="en-US" sz="1800" b="1" cap="all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www.agtpricetags.com</a:t>
            </a:r>
            <a:br>
              <a:rPr lang="en-US" sz="1800" b="1" cap="all" dirty="0">
                <a:solidFill>
                  <a:schemeClr val="bg1"/>
                </a:solidFill>
              </a:rPr>
            </a:br>
            <a:endParaRPr lang="en-US" sz="1800" b="1" cap="all" dirty="0">
              <a:solidFill>
                <a:schemeClr val="bg1"/>
              </a:solidFill>
            </a:endParaRPr>
          </a:p>
          <a:p>
            <a:pPr marL="2857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800" dirty="0">
                <a:solidFill>
                  <a:schemeClr val="bg1"/>
                </a:solidFill>
              </a:rPr>
              <a:t>Data-driven Price Tag automation</a:t>
            </a:r>
          </a:p>
          <a:p>
            <a:pPr marL="2857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800" dirty="0">
                <a:solidFill>
                  <a:schemeClr val="bg1"/>
                </a:solidFill>
              </a:rPr>
              <a:t>Cannabis Product Labeling &amp; Inventory Management System</a:t>
            </a:r>
          </a:p>
          <a:p>
            <a:pPr marL="2857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800" dirty="0">
                <a:solidFill>
                  <a:schemeClr val="bg1"/>
                </a:solidFill>
              </a:rPr>
              <a:t>Intelligent Strain Database </a:t>
            </a:r>
          </a:p>
          <a:p>
            <a:pPr marL="285750" indent="-228600" algn="l" defTabSz="914400">
              <a:lnSpc>
                <a:spcPct val="90000"/>
              </a:lnSpc>
              <a:buFont typeface="Arial" panose="020B0604020202020204" pitchFamily="34" charset="0"/>
              <a:buChar char="•"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800" dirty="0">
                <a:solidFill>
                  <a:schemeClr val="bg1"/>
                </a:solidFill>
              </a:rPr>
              <a:t>AI JSON Match Capability </a:t>
            </a:r>
            <a:br>
              <a:rPr lang="en-US" sz="1600" dirty="0">
                <a:solidFill>
                  <a:schemeClr val="bg1"/>
                </a:solidFill>
              </a:rPr>
            </a:b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Slide Background Fill">
            <a:extLst>
              <a:ext uri="{FF2B5EF4-FFF2-40B4-BE49-F238E27FC236}">
                <a16:creationId xmlns:a16="http://schemas.microsoft.com/office/drawing/2014/main" id="{44D65982-4F00-4330-8DAA-DE6A9E4D6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olor Cover">
            <a:extLst>
              <a:ext uri="{FF2B5EF4-FFF2-40B4-BE49-F238E27FC236}">
                <a16:creationId xmlns:a16="http://schemas.microsoft.com/office/drawing/2014/main" id="{56AD21CA-472C-4EA1-A897-F639017AF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29A5F49-8CEE-44D2-A717-96965326A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1714" cy="6858000"/>
            <a:chOff x="651279" y="598259"/>
            <a:chExt cx="10889442" cy="5680742"/>
          </a:xfrm>
        </p:grpSpPr>
        <p:sp>
          <p:nvSpPr>
            <p:cNvPr id="30" name="Color">
              <a:extLst>
                <a:ext uri="{FF2B5EF4-FFF2-40B4-BE49-F238E27FC236}">
                  <a16:creationId xmlns:a16="http://schemas.microsoft.com/office/drawing/2014/main" id="{A4758941-095E-4760-9F3E-0E9F079AA2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Color">
              <a:extLst>
                <a:ext uri="{FF2B5EF4-FFF2-40B4-BE49-F238E27FC236}">
                  <a16:creationId xmlns:a16="http://schemas.microsoft.com/office/drawing/2014/main" id="{9BA7B350-F1EB-47CD-8531-349F4BD68B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994410" y="1947672"/>
            <a:ext cx="4471416" cy="2788920"/>
          </a:xfrm>
        </p:spPr>
        <p:txBody>
          <a:bodyPr anchor="ctr">
            <a:normAutofit/>
          </a:bodyPr>
          <a:lstStyle/>
          <a:p>
            <a:pPr algn="l"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4200">
                <a:solidFill>
                  <a:schemeClr val="bg1"/>
                </a:solidFill>
              </a:rPr>
              <a:t>What is AGT Designer?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05FE506-AB9A-470B-89C8-00826996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36475" y="252484"/>
            <a:ext cx="4683084" cy="6244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1188" y="540048"/>
            <a:ext cx="4239072" cy="5641293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>
                <a:solidFill>
                  <a:schemeClr val="tx2"/>
                </a:solidFill>
              </a:rPr>
              <a:t>A comprehensive web-based application designed specifically for cannabis dispensaries and retailers to: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600" dirty="0">
              <a:solidFill>
                <a:schemeClr val="tx2"/>
              </a:solidFill>
            </a:endParaRP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>
                <a:solidFill>
                  <a:schemeClr val="tx2"/>
                </a:solidFill>
              </a:rPr>
              <a:t>• Generate professional product labels (“Price Tags”)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>
                <a:solidFill>
                  <a:schemeClr val="tx2"/>
                </a:solidFill>
              </a:rPr>
              <a:t>• Manage inventory data via extra oversight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>
                <a:solidFill>
                  <a:schemeClr val="tx2"/>
                </a:solidFill>
              </a:rPr>
              <a:t>• Streamline product information 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>
                <a:solidFill>
                  <a:schemeClr val="tx2"/>
                </a:solidFill>
              </a:rPr>
              <a:t>• Ensure compliance with state regulations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endParaRPr lang="en-US" sz="1600" dirty="0">
              <a:solidFill>
                <a:schemeClr val="tx2"/>
              </a:solidFill>
            </a:endParaRP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>
                <a:solidFill>
                  <a:schemeClr val="tx2"/>
                </a:solidFill>
              </a:rPr>
              <a:t>Benefits: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>
                <a:solidFill>
                  <a:schemeClr val="tx2"/>
                </a:solidFill>
              </a:rPr>
              <a:t>⚡ Fast, automated label generation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>
                <a:solidFill>
                  <a:schemeClr val="tx2"/>
                </a:solidFill>
              </a:rPr>
              <a:t>📊 Comprehensive inventory management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>
                <a:solidFill>
                  <a:schemeClr val="tx2"/>
                </a:solidFill>
              </a:rPr>
              <a:t>🎨 Professional, customizable templates</a:t>
            </a:r>
          </a:p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>
                <a:solidFill>
                  <a:schemeClr val="tx2"/>
                </a:solidFill>
              </a:rPr>
              <a:t>☁️ Cloud-ready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Slide Background Fill">
            <a:extLst>
              <a:ext uri="{FF2B5EF4-FFF2-40B4-BE49-F238E27FC236}">
                <a16:creationId xmlns:a16="http://schemas.microsoft.com/office/drawing/2014/main" id="{7D07B7BC-3270-4CF3-A7AA-0937908AD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3248F5E6-4377-481A-9615-8B26AF96A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1714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D8552057-9E04-4499-916A-649BB6B51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D1194A2F-4E63-4228-A833-4D86528EA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7" name="Graphic 6" descr="Tag">
            <a:extLst>
              <a:ext uri="{FF2B5EF4-FFF2-40B4-BE49-F238E27FC236}">
                <a16:creationId xmlns:a16="http://schemas.microsoft.com/office/drawing/2014/main" id="{82DD6CCC-0314-EAB1-C7E5-8463196FB0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4854" y="2067941"/>
            <a:ext cx="3903162" cy="3903162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452" y="723536"/>
            <a:ext cx="7783113" cy="1546533"/>
          </a:xfrm>
        </p:spPr>
        <p:txBody>
          <a:bodyPr anchor="t">
            <a:normAutofit/>
          </a:bodyPr>
          <a:lstStyle/>
          <a:p>
            <a:pPr algn="l"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4200" dirty="0">
                <a:solidFill>
                  <a:schemeClr val="bg1"/>
                </a:solidFill>
              </a:rPr>
              <a:t>Key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79417" y="491319"/>
            <a:ext cx="5182129" cy="6237285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>
                <a:solidFill>
                  <a:schemeClr val="bg1"/>
                </a:solidFill>
              </a:rPr>
              <a:t>✅ Why Choose Label Maker?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>
                <a:solidFill>
                  <a:schemeClr val="bg1"/>
                </a:solidFill>
              </a:rPr>
              <a:t>Efficiency: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>
                <a:solidFill>
                  <a:schemeClr val="bg1"/>
                </a:solidFill>
              </a:rPr>
              <a:t>• Time Savings: Generate hundreds of labels in minutes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>
                <a:solidFill>
                  <a:schemeClr val="bg1"/>
                </a:solidFill>
              </a:rPr>
              <a:t>• Automation: Reduce manual data entry and formatting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>
                <a:solidFill>
                  <a:schemeClr val="bg1"/>
                </a:solidFill>
              </a:rPr>
              <a:t>• Batch Processing: Handle large inventories efficiently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>
                <a:solidFill>
                  <a:schemeClr val="bg1"/>
                </a:solidFill>
              </a:rPr>
              <a:t>• Template Reuse: Consistent formatting across all products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>
                <a:solidFill>
                  <a:schemeClr val="bg1"/>
                </a:solidFill>
              </a:rPr>
              <a:t>Compliance: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>
                <a:solidFill>
                  <a:schemeClr val="bg1"/>
                </a:solidFill>
              </a:rPr>
              <a:t>• DOH Integration: Built-in compliance features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>
                <a:solidFill>
                  <a:schemeClr val="bg1"/>
                </a:solidFill>
              </a:rPr>
              <a:t>• Standardized Format: Consistent label appearance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>
                <a:solidFill>
                  <a:schemeClr val="bg1"/>
                </a:solidFill>
              </a:rPr>
              <a:t>• Data Validation: Ensure accurate product information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>
                <a:solidFill>
                  <a:schemeClr val="bg1"/>
                </a:solidFill>
              </a:rPr>
              <a:t>• Audit Trail: Track changes and modifications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600" dirty="0">
              <a:solidFill>
                <a:schemeClr val="bg1"/>
              </a:solidFill>
            </a:endParaRP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>
                <a:solidFill>
                  <a:schemeClr val="bg1"/>
                </a:solidFill>
              </a:rPr>
              <a:t>Professional Quality: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>
                <a:solidFill>
                  <a:schemeClr val="bg1"/>
                </a:solidFill>
              </a:rPr>
              <a:t>• Clean Design: Professional, readable labels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>
                <a:solidFill>
                  <a:schemeClr val="bg1"/>
                </a:solidFill>
              </a:rPr>
              <a:t>• Brand Consistency: Maintain brand standards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>
                <a:solidFill>
                  <a:schemeClr val="bg1"/>
                </a:solidFill>
              </a:rPr>
              <a:t>• Print Ready: Direct-to-printer formatting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>
                <a:solidFill>
                  <a:schemeClr val="bg1"/>
                </a:solidFill>
              </a:rPr>
              <a:t>• Customizable: Adjust templates to your needs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44D65982-4F00-4330-8DAA-DE6A9E4D6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56AD21CA-472C-4EA1-A897-F639017AF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29A5F49-8CEE-44D2-A717-96965326A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1714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A4758941-095E-4760-9F3E-0E9F079AA2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9BA7B350-F1EB-47CD-8531-349F4BD68B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994410" y="1947672"/>
            <a:ext cx="4471416" cy="2788920"/>
          </a:xfrm>
        </p:spPr>
        <p:txBody>
          <a:bodyPr anchor="ctr">
            <a:normAutofit/>
          </a:bodyPr>
          <a:lstStyle/>
          <a:p>
            <a:pPr algn="l"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4200">
                <a:solidFill>
                  <a:schemeClr val="bg1"/>
                </a:solidFill>
              </a:rPr>
              <a:t>Use Cases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5FE506-AB9A-470B-89C8-00826996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36475" y="252484"/>
            <a:ext cx="4683084" cy="6244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1188" y="540048"/>
            <a:ext cx="4239072" cy="5641293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🎯 Perfect For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600">
              <a:solidFill>
                <a:schemeClr val="tx2"/>
              </a:solidFill>
            </a:endParaRP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Cannabis Dispensaries: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Product labeling for retail display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Inventory management and tracking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Compliance documentation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Brand consistency across products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600">
              <a:solidFill>
                <a:schemeClr val="tx2"/>
              </a:solidFill>
            </a:endParaRP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Cannabis Retailers: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Wholesale product identification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Bulk inventory management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Vendor product organization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Price and information display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600">
              <a:solidFill>
                <a:schemeClr val="tx2"/>
              </a:solidFill>
            </a:endParaRP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Cannabis Distributors: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Product catalog management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Batch tracking and documentation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Quality control labeling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Regulatory compliance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435ADAF7-9BEB-4FA3-AE9F-4CF47620EB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735" y="431212"/>
            <a:ext cx="2565229" cy="1906317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2400"/>
              <a:t>Core Features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7BB0BA7-0383-4937-8874-B01AAA08E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68743"/>
            <a:ext cx="3232716" cy="408925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Database">
            <a:extLst>
              <a:ext uri="{FF2B5EF4-FFF2-40B4-BE49-F238E27FC236}">
                <a16:creationId xmlns:a16="http://schemas.microsoft.com/office/drawing/2014/main" id="{0353BA4E-92C7-95C0-B937-A959929D8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4452" y="3461465"/>
            <a:ext cx="2703812" cy="270381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0132" y="678955"/>
            <a:ext cx="4189836" cy="5409743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/>
              <a:t>🌟 Main Capabilities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600"/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/>
              <a:t>Data Management: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/>
              <a:t>• Excel Integration: Import product data from Excel files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/>
              <a:t>• JSON API Support: Connect to POS systems via JSON URLs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/>
              <a:t>• Manual Entry: Add new products on-the-fly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/>
              <a:t>• Database Storage: Persistent product data management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600"/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/>
              <a:t>Label Generation: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/>
              <a:t>• Multiple Formats: 3×3 tags, 5×6 mini tags, 2×2 inventory slips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/>
              <a:t>• Template Options: Horizontal, Vertical, Mini, Double, Inventory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/>
              <a:t>• Smart Formatting: Automatic text sizing and layout optimization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/>
              <a:t>• Professional Output: Microsoft Word document generation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ACD3AB31-A71C-4414-BA05-CF667CBA3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89945" y="3404996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1" name="Color Cover">
            <a:extLst>
              <a:ext uri="{FF2B5EF4-FFF2-40B4-BE49-F238E27FC236}">
                <a16:creationId xmlns:a16="http://schemas.microsoft.com/office/drawing/2014/main" id="{815925C2-A704-4D47-B1C1-3FCA52512E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2" name="Color Cover">
            <a:extLst>
              <a:ext uri="{FF2B5EF4-FFF2-40B4-BE49-F238E27FC236}">
                <a16:creationId xmlns:a16="http://schemas.microsoft.com/office/drawing/2014/main" id="{01D4315C-C23C-4FD3-98DF-08C29E2292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E6B47BC-43FD-4C91-8BFF-B41B99A8A3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4548176" cy="6858000"/>
            <a:chOff x="651279" y="598259"/>
            <a:chExt cx="10889442" cy="5680742"/>
          </a:xfrm>
        </p:grpSpPr>
        <p:sp>
          <p:nvSpPr>
            <p:cNvPr id="54" name="Color">
              <a:extLst>
                <a:ext uri="{FF2B5EF4-FFF2-40B4-BE49-F238E27FC236}">
                  <a16:creationId xmlns:a16="http://schemas.microsoft.com/office/drawing/2014/main" id="{13038185-AC3C-4595-945F-25311424C5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55" name="Color">
              <a:extLst>
                <a:ext uri="{FF2B5EF4-FFF2-40B4-BE49-F238E27FC236}">
                  <a16:creationId xmlns:a16="http://schemas.microsoft.com/office/drawing/2014/main" id="{75D51AA0-C095-4650-A361-B294320BFE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57" name="Freeform: Shape 40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8" name="Freeform: Shape 41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59" name="Freeform: Shape 42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0" name="Freeform: Shape 43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1" name="Freeform: Shape 44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2" name="Freeform: Shape 45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63" name="Freeform: Shape 46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841248"/>
            <a:ext cx="3847200" cy="5340097"/>
          </a:xfrm>
        </p:spPr>
        <p:txBody>
          <a:bodyPr anchor="ctr">
            <a:normAutofit/>
          </a:bodyPr>
          <a:lstStyle/>
          <a:p>
            <a:pPr algn="l"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4200">
                <a:solidFill>
                  <a:schemeClr val="bg1"/>
                </a:solidFill>
              </a:rPr>
              <a:t>Advanced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8307" y="841247"/>
            <a:ext cx="3363402" cy="534009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🚀 Smart Capabilities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600">
              <a:solidFill>
                <a:schemeClr val="tx2"/>
              </a:solidFill>
            </a:endParaRP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AI-Powered Matching: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600">
              <a:solidFill>
                <a:schemeClr val="tx2"/>
              </a:solidFill>
            </a:endParaRP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Semantic Similarity: AI-enhanced product matching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Vendor Recognition: Intelligent vendor name matching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Brand Detection: Advanced brand identification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Confidence Scoring: Quality assurance for matches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600">
              <a:solidFill>
                <a:schemeClr val="tx2"/>
              </a:solidFill>
            </a:endParaRP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Data Intelligence: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600">
              <a:solidFill>
                <a:schemeClr val="tx2"/>
              </a:solidFill>
            </a:endParaRP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Lineage Management: Automatic Sativa/Indica/Hybrid classification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Unit Conversion: Automatic g → oz conversion for edibles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Price Formatting: Smart price display with proper decimals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Slide Background Fill">
            <a:extLst>
              <a:ext uri="{FF2B5EF4-FFF2-40B4-BE49-F238E27FC236}">
                <a16:creationId xmlns:a16="http://schemas.microsoft.com/office/drawing/2014/main" id="{44D65982-4F00-4330-8DAA-DE6A9E4D6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Color Cover">
            <a:extLst>
              <a:ext uri="{FF2B5EF4-FFF2-40B4-BE49-F238E27FC236}">
                <a16:creationId xmlns:a16="http://schemas.microsoft.com/office/drawing/2014/main" id="{56AD21CA-472C-4EA1-A897-F639017AF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29A5F49-8CEE-44D2-A717-96965326A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1714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A4758941-095E-4760-9F3E-0E9F079AA2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8" name="Color">
              <a:extLst>
                <a:ext uri="{FF2B5EF4-FFF2-40B4-BE49-F238E27FC236}">
                  <a16:creationId xmlns:a16="http://schemas.microsoft.com/office/drawing/2014/main" id="{9BA7B350-F1EB-47CD-8531-349F4BD68B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994410" y="1947672"/>
            <a:ext cx="4471416" cy="2788920"/>
          </a:xfrm>
        </p:spPr>
        <p:txBody>
          <a:bodyPr anchor="ctr">
            <a:normAutofit/>
          </a:bodyPr>
          <a:lstStyle/>
          <a:p>
            <a:pPr algn="l"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4200">
                <a:solidFill>
                  <a:schemeClr val="bg1"/>
                </a:solidFill>
              </a:rPr>
              <a:t>Workflow Demo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5FE506-AB9A-470B-89C8-00826996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36475" y="252484"/>
            <a:ext cx="4683084" cy="6244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Content Placeholder 2"/>
          <p:cNvSpPr>
            <a:spLocks noGrp="1"/>
          </p:cNvSpPr>
          <p:nvPr>
            <p:ph idx="1"/>
          </p:nvPr>
        </p:nvSpPr>
        <p:spPr>
          <a:xfrm>
            <a:off x="3751188" y="540048"/>
            <a:ext cx="4239072" cy="5641293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sz="1600" dirty="0">
                <a:solidFill>
                  <a:schemeClr val="tx2"/>
                </a:solidFill>
              </a:rPr>
              <a:t>🔄 Typical User Workflow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sz="1600" dirty="0">
              <a:solidFill>
                <a:schemeClr val="tx2"/>
              </a:solidFill>
            </a:endParaRP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sz="1600" dirty="0">
                <a:solidFill>
                  <a:schemeClr val="tx2"/>
                </a:solidFill>
              </a:rPr>
              <a:t>Step 1: Data Import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sz="1600" dirty="0">
                <a:solidFill>
                  <a:schemeClr val="tx2"/>
                </a:solidFill>
              </a:rPr>
              <a:t>1. Upload Excel file or enter JSON URL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sz="1600" dirty="0">
                <a:solidFill>
                  <a:schemeClr val="tx2"/>
                </a:solidFill>
              </a:rPr>
              <a:t>2. System automatically processes and validates data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sz="1600" dirty="0">
                <a:solidFill>
                  <a:schemeClr val="tx2"/>
                </a:solidFill>
              </a:rPr>
              <a:t>3. Products appear in "</a:t>
            </a:r>
            <a:r>
              <a:rPr lang="en-US" sz="1600" dirty="0">
                <a:solidFill>
                  <a:schemeClr val="tx2"/>
                </a:solidFill>
              </a:rPr>
              <a:t>Current Inventory</a:t>
            </a:r>
            <a:r>
              <a:rPr sz="1600" dirty="0">
                <a:solidFill>
                  <a:schemeClr val="tx2"/>
                </a:solidFill>
              </a:rPr>
              <a:t>" list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sz="1600" dirty="0">
              <a:solidFill>
                <a:schemeClr val="tx2"/>
              </a:solidFill>
            </a:endParaRP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sz="1600" dirty="0">
                <a:solidFill>
                  <a:schemeClr val="tx2"/>
                </a:solidFill>
              </a:rPr>
              <a:t>Step 2: Product Selection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sz="1600" dirty="0">
                <a:solidFill>
                  <a:schemeClr val="tx2"/>
                </a:solidFill>
              </a:rPr>
              <a:t>1. Use filters to narrow down products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sz="1600" dirty="0">
                <a:solidFill>
                  <a:schemeClr val="tx2"/>
                </a:solidFill>
              </a:rPr>
              <a:t>2. Move desired products to "Selected" list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sz="1600" dirty="0">
                <a:solidFill>
                  <a:schemeClr val="tx2"/>
                </a:solidFill>
              </a:rPr>
              <a:t>3. Review and adjust selections as needed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sz="1600" dirty="0">
              <a:solidFill>
                <a:schemeClr val="tx2"/>
              </a:solidFill>
            </a:endParaRP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sz="1600" dirty="0">
                <a:solidFill>
                  <a:schemeClr val="tx2"/>
                </a:solidFill>
              </a:rPr>
              <a:t>Step 3: Label Generation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sz="1600" dirty="0">
                <a:solidFill>
                  <a:schemeClr val="tx2"/>
                </a:solidFill>
              </a:rPr>
              <a:t>1. Choose template type (Horizontal, Vertical, etc.)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sz="1600" dirty="0">
                <a:solidFill>
                  <a:schemeClr val="tx2"/>
                </a:solidFill>
              </a:rPr>
              <a:t>2. Adjust scale factor if needed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sz="1600" dirty="0">
                <a:solidFill>
                  <a:schemeClr val="tx2"/>
                </a:solidFill>
              </a:rPr>
              <a:t>3. Click "Generate Tags"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sz="1600" dirty="0">
                <a:solidFill>
                  <a:schemeClr val="tx2"/>
                </a:solidFill>
              </a:rPr>
              <a:t>4. Download professional Word document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5" name="Slide Background Fill">
            <a:extLst>
              <a:ext uri="{FF2B5EF4-FFF2-40B4-BE49-F238E27FC236}">
                <a16:creationId xmlns:a16="http://schemas.microsoft.com/office/drawing/2014/main" id="{44D65982-4F00-4330-8DAA-DE6A9E4D6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Color Cover">
            <a:extLst>
              <a:ext uri="{FF2B5EF4-FFF2-40B4-BE49-F238E27FC236}">
                <a16:creationId xmlns:a16="http://schemas.microsoft.com/office/drawing/2014/main" id="{56AD21CA-472C-4EA1-A897-F639017AF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B29A5F49-8CEE-44D2-A717-96965326A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1714" cy="6858000"/>
            <a:chOff x="651279" y="598259"/>
            <a:chExt cx="10889442" cy="5680742"/>
          </a:xfrm>
        </p:grpSpPr>
        <p:sp>
          <p:nvSpPr>
            <p:cNvPr id="30" name="Color">
              <a:extLst>
                <a:ext uri="{FF2B5EF4-FFF2-40B4-BE49-F238E27FC236}">
                  <a16:creationId xmlns:a16="http://schemas.microsoft.com/office/drawing/2014/main" id="{A4758941-095E-4760-9F3E-0E9F079AA2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31" name="Color">
              <a:extLst>
                <a:ext uri="{FF2B5EF4-FFF2-40B4-BE49-F238E27FC236}">
                  <a16:creationId xmlns:a16="http://schemas.microsoft.com/office/drawing/2014/main" id="{9BA7B350-F1EB-47CD-8531-349F4BD68B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5" name="Freeform: Shape 34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6" name="Freeform: Shape 35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7" name="Freeform: Shape 36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8" name="Freeform: Shape 37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9" name="Freeform: Shape 38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40" name="Freeform: Shape 39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994410" y="1947672"/>
            <a:ext cx="4471416" cy="2788920"/>
          </a:xfrm>
        </p:spPr>
        <p:txBody>
          <a:bodyPr anchor="ctr">
            <a:normAutofit/>
          </a:bodyPr>
          <a:lstStyle/>
          <a:p>
            <a:pPr algn="l"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4200">
                <a:solidFill>
                  <a:schemeClr val="bg1"/>
                </a:solidFill>
              </a:rPr>
              <a:t>User Interface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C05FE506-AB9A-470B-89C8-00826996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36475" y="252484"/>
            <a:ext cx="4683084" cy="6244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1188" y="540048"/>
            <a:ext cx="4239072" cy="5641293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💻 Modern Web Interface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600">
              <a:solidFill>
                <a:schemeClr val="tx2"/>
              </a:solidFill>
            </a:endParaRP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Intuitive Design: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Responsive Layout: Works on desktop, tablet, and mobile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Real-time Updates: Live status and progress indicators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Drag &amp; Drop: Easy product selection and management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Filter System: Advanced filtering by vendor, brand, type, lineage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600">
              <a:solidFill>
                <a:schemeClr val="tx2"/>
              </a:solidFill>
            </a:endParaRP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Workflow Tools: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Available ↔ Selected: Easy product selection interface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Bulk Operations: Select all, clear filters, undo actions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Search Functionality: Quick product finding and selection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Library Browser: Comprehensive product data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Slide Background Fill">
            <a:extLst>
              <a:ext uri="{FF2B5EF4-FFF2-40B4-BE49-F238E27FC236}">
                <a16:creationId xmlns:a16="http://schemas.microsoft.com/office/drawing/2014/main" id="{7D07B7BC-3270-4CF3-A7AA-0937908AD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248F5E6-4377-481A-9615-8B26AF96A0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1714" cy="6858000"/>
            <a:chOff x="651279" y="598259"/>
            <a:chExt cx="10889442" cy="5680742"/>
          </a:xfrm>
        </p:grpSpPr>
        <p:sp>
          <p:nvSpPr>
            <p:cNvPr id="23" name="Color">
              <a:extLst>
                <a:ext uri="{FF2B5EF4-FFF2-40B4-BE49-F238E27FC236}">
                  <a16:creationId xmlns:a16="http://schemas.microsoft.com/office/drawing/2014/main" id="{D8552057-9E04-4499-916A-649BB6B5126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4" name="Color">
              <a:extLst>
                <a:ext uri="{FF2B5EF4-FFF2-40B4-BE49-F238E27FC236}">
                  <a16:creationId xmlns:a16="http://schemas.microsoft.com/office/drawing/2014/main" id="{D1194A2F-4E63-4228-A833-4D86528EAD7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pic>
        <p:nvPicPr>
          <p:cNvPr id="15" name="Picture 14" descr="Blue blocks and networks technology background">
            <a:extLst>
              <a:ext uri="{FF2B5EF4-FFF2-40B4-BE49-F238E27FC236}">
                <a16:creationId xmlns:a16="http://schemas.microsoft.com/office/drawing/2014/main" id="{7041D051-537E-24B7-C8E9-290BA57CBDA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000" b="-446"/>
          <a:stretch>
            <a:fillRect/>
          </a:stretch>
        </p:blipFill>
        <p:spPr>
          <a:xfrm>
            <a:off x="589788" y="2660163"/>
            <a:ext cx="3952520" cy="2977610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E27AF472-EAE3-4572-AB69-B92BD10DBC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BF4DB9D2-6215-420C-874C-82EADF8C6C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1F003139-C97C-44FA-B139-32E4DFDCE9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5CE4DD6E-8CEA-45EE-B630-DBC22144D8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A4372F7F-AA3C-470B-AA61-7C35B7722C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34B605BF-D199-43DD-9328-E99F2ADFC6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E5D42A77-7336-4A35-8922-8098A16AA27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7401EE7D-B85D-4C10-AB8C-71884EFB1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9788" y="260250"/>
            <a:ext cx="7783113" cy="1546533"/>
          </a:xfrm>
        </p:spPr>
        <p:txBody>
          <a:bodyPr anchor="t">
            <a:normAutofit/>
          </a:bodyPr>
          <a:lstStyle/>
          <a:p>
            <a:pPr algn="l"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4200" dirty="0">
                <a:solidFill>
                  <a:schemeClr val="bg1"/>
                </a:solidFill>
              </a:rPr>
              <a:t>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48306" y="1284132"/>
            <a:ext cx="3524595" cy="5128284"/>
          </a:xfrm>
        </p:spPr>
        <p:txBody>
          <a:bodyPr anchor="ctr">
            <a:normAutofit lnSpcReduction="10000"/>
          </a:bodyPr>
          <a:lstStyle/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400" dirty="0">
                <a:solidFill>
                  <a:schemeClr val="bg1"/>
                </a:solidFill>
              </a:rPr>
              <a:t>⚙️ Robust Technology Stack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400" dirty="0">
              <a:solidFill>
                <a:schemeClr val="bg1"/>
              </a:solidFill>
            </a:endParaRP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400" dirty="0">
                <a:solidFill>
                  <a:schemeClr val="bg1"/>
                </a:solidFill>
              </a:rPr>
              <a:t>Backend: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400" dirty="0">
                <a:solidFill>
                  <a:schemeClr val="bg1"/>
                </a:solidFill>
              </a:rPr>
              <a:t>• Python Flask: Modern web framework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400" dirty="0">
                <a:solidFill>
                  <a:schemeClr val="bg1"/>
                </a:solidFill>
              </a:rPr>
              <a:t>• SQLite Database: Lightweight, reliable data storage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400" dirty="0">
                <a:solidFill>
                  <a:schemeClr val="bg1"/>
                </a:solidFill>
              </a:rPr>
              <a:t>• Pandas: Advanced data processing and analysis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400" dirty="0">
                <a:solidFill>
                  <a:schemeClr val="bg1"/>
                </a:solidFill>
              </a:rPr>
              <a:t>• </a:t>
            </a:r>
            <a:r>
              <a:rPr lang="en-US" sz="1400" dirty="0" err="1">
                <a:solidFill>
                  <a:schemeClr val="bg1"/>
                </a:solidFill>
              </a:rPr>
              <a:t>OpenPyXL</a:t>
            </a:r>
            <a:r>
              <a:rPr lang="en-US" sz="1400" dirty="0">
                <a:solidFill>
                  <a:schemeClr val="bg1"/>
                </a:solidFill>
              </a:rPr>
              <a:t>: Excel file handling and manipulation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400" dirty="0">
              <a:solidFill>
                <a:schemeClr val="bg1"/>
              </a:solidFill>
            </a:endParaRP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400" dirty="0">
                <a:solidFill>
                  <a:schemeClr val="bg1"/>
                </a:solidFill>
              </a:rPr>
              <a:t>Frontend: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400" dirty="0">
                <a:solidFill>
                  <a:schemeClr val="bg1"/>
                </a:solidFill>
              </a:rPr>
              <a:t>• HTML5/CSS3: Modern, responsive interface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400" dirty="0">
                <a:solidFill>
                  <a:schemeClr val="bg1"/>
                </a:solidFill>
              </a:rPr>
              <a:t>• JavaScript: Dynamic user interactions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400" dirty="0">
                <a:solidFill>
                  <a:schemeClr val="bg1"/>
                </a:solidFill>
              </a:rPr>
              <a:t>• Bootstrap: Professional UI components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400" dirty="0">
                <a:solidFill>
                  <a:schemeClr val="bg1"/>
                </a:solidFill>
              </a:rPr>
              <a:t>• AJAX: Seamless data communication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400" dirty="0">
              <a:solidFill>
                <a:schemeClr val="bg1"/>
              </a:solidFill>
            </a:endParaRP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400" dirty="0">
                <a:solidFill>
                  <a:schemeClr val="bg1"/>
                </a:solidFill>
              </a:rPr>
              <a:t>Deployment: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400" dirty="0">
                <a:solidFill>
                  <a:schemeClr val="bg1"/>
                </a:solidFill>
              </a:rPr>
              <a:t>• PythonAnywhere: Cloud hosting ready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400" dirty="0">
                <a:solidFill>
                  <a:schemeClr val="bg1"/>
                </a:solidFill>
              </a:rPr>
              <a:t>• Cross-platform: Windows, macOS, Linux support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400" dirty="0">
                <a:solidFill>
                  <a:schemeClr val="bg1"/>
                </a:solidFill>
              </a:rPr>
              <a:t>• Scalable: Handles large product inventories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400" dirty="0">
                <a:solidFill>
                  <a:schemeClr val="bg1"/>
                </a:solidFill>
              </a:rPr>
              <a:t>• Secure: Data protection and validation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699" y="687480"/>
            <a:ext cx="5605629" cy="994172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3850"/>
              <a:t>Data 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52321" y="1805049"/>
            <a:ext cx="5033221" cy="4211121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200" dirty="0"/>
              <a:t>📊 Multiple Input Methods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200" dirty="0"/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200" dirty="0"/>
              <a:t>Excel Integration: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200" dirty="0"/>
              <a:t>• Direct Upload: Drag and drop Excel files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200" dirty="0"/>
              <a:t>• Auto-Detection: Smart file recognition in Downloads folder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200" dirty="0"/>
              <a:t>• Column Mapping: Automatic field mapping and validation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200" dirty="0"/>
              <a:t>• Data Validation: Error checking and correction suggestions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200" dirty="0"/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200" dirty="0"/>
              <a:t>JSON API Support: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200" dirty="0"/>
              <a:t>• POS Integration: Connect to </a:t>
            </a:r>
            <a:r>
              <a:rPr lang="en-US" sz="1200" dirty="0" err="1"/>
              <a:t>POSaBit</a:t>
            </a:r>
            <a:r>
              <a:rPr lang="en-US" sz="1200" dirty="0"/>
              <a:t> and other systems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200" dirty="0"/>
              <a:t>• Real-time Data: Live product information updates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200" dirty="0"/>
              <a:t>• URL Support: Direct JSON URL integration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200" dirty="0"/>
              <a:t>• Batch Processing: Handle large product datasets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200" dirty="0"/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200" dirty="0"/>
              <a:t>Manual Entry: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200" dirty="0"/>
              <a:t>• Quick Add: Add individual products instantly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200" dirty="0"/>
              <a:t>• Form Validation: Required field checking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200" dirty="0"/>
              <a:t>• Auto-completion: Smart suggestions for common fields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200" dirty="0"/>
              <a:t>• Immediate Generation: Create labels right away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59A309A7-1751-4ABE-A3C1-EEC40366AD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189435" y="0"/>
            <a:ext cx="1954565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967D8EB6-EAE1-4F9C-B398-83321E2872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29567" y="2369132"/>
            <a:ext cx="2119736" cy="2119736"/>
          </a:xfrm>
          <a:prstGeom prst="ellipse">
            <a:avLst/>
          </a:prstGeom>
          <a:solidFill>
            <a:srgbClr val="FFFFFF"/>
          </a:solidFill>
          <a:ln w="222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pic>
        <p:nvPicPr>
          <p:cNvPr id="24" name="Graphic 23" descr="Table">
            <a:extLst>
              <a:ext uri="{FF2B5EF4-FFF2-40B4-BE49-F238E27FC236}">
                <a16:creationId xmlns:a16="http://schemas.microsoft.com/office/drawing/2014/main" id="{5C063865-E226-296D-1220-0B2699EF85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24964" y="2865141"/>
            <a:ext cx="1143455" cy="114345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3500">
                <a:solidFill>
                  <a:srgbClr val="FFFFFF"/>
                </a:solidFill>
              </a:rPr>
              <a:t>Label Templates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/>
              <a:t>🎨 Template Options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600" dirty="0"/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/>
              <a:t>Standard Templates: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/>
              <a:t>• Horizontal: 3×3 grid layout for standard product tags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/>
              <a:t>• Vertical: Optimized for vertical display preferences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/>
              <a:t>• Mini: 5×6 compact tags for smaller products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/>
              <a:t>• Double: Enhanced layout with additional information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/>
              <a:t>• Inventory: 2×2 slips for inventory management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600" dirty="0"/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/>
              <a:t>Smart Features: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/>
              <a:t>• Auto-sizing: Text automatically adjusts to fit content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/>
              <a:t>• Color Coding: Visual categorization by product type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/>
              <a:t>• Cut Guides: Built-in cutting lines for easy separation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 dirty="0"/>
              <a:t>• DOH Compliance: Automatic compliance field inclusion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35ADAF7-9BEB-4FA3-AE9F-4CF47620EB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735" y="431212"/>
            <a:ext cx="2565229" cy="1906317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3200" dirty="0"/>
              <a:t>Web Server Setup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7BB0BA7-0383-4937-8874-B01AAA08E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68743"/>
            <a:ext cx="3232716" cy="408925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Graphic 6" descr="Download">
            <a:extLst>
              <a:ext uri="{FF2B5EF4-FFF2-40B4-BE49-F238E27FC236}">
                <a16:creationId xmlns:a16="http://schemas.microsoft.com/office/drawing/2014/main" id="{98792A52-3C3E-8928-CADA-3F2A130912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4452" y="3461465"/>
            <a:ext cx="2703812" cy="270381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0132" y="678955"/>
            <a:ext cx="4189836" cy="5409743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200" dirty="0"/>
              <a:t>🚀 Quick Start Guide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200" dirty="0"/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200" dirty="0"/>
              <a:t>Installation: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200" dirty="0"/>
              <a:t># Clone the repository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200" dirty="0"/>
              <a:t>git clone https://</a:t>
            </a:r>
            <a:r>
              <a:rPr lang="en-US" sz="1200" dirty="0" err="1"/>
              <a:t>github.com</a:t>
            </a:r>
            <a:r>
              <a:rPr lang="en-US" sz="1200" dirty="0"/>
              <a:t>/</a:t>
            </a:r>
            <a:r>
              <a:rPr lang="en-US" sz="1200" dirty="0" err="1"/>
              <a:t>leruseadam</a:t>
            </a:r>
            <a:r>
              <a:rPr lang="en-US" sz="1200" dirty="0"/>
              <a:t>/</a:t>
            </a:r>
            <a:r>
              <a:rPr lang="en-US" sz="1200" dirty="0" err="1"/>
              <a:t>AGTDesigner.git</a:t>
            </a:r>
            <a:endParaRPr lang="en-US" sz="1200" dirty="0"/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200" dirty="0"/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200" dirty="0"/>
              <a:t># Install dependencies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200" dirty="0"/>
              <a:t>pip install -r </a:t>
            </a:r>
            <a:r>
              <a:rPr lang="en-US" sz="1200" dirty="0" err="1"/>
              <a:t>requirements.txt</a:t>
            </a:r>
            <a:endParaRPr lang="en-US" sz="1200" dirty="0"/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200" dirty="0"/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200" dirty="0"/>
              <a:t># Run the application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200" dirty="0"/>
              <a:t>python </a:t>
            </a:r>
            <a:r>
              <a:rPr lang="en-US" sz="1200" dirty="0" err="1"/>
              <a:t>app.py</a:t>
            </a:r>
            <a:endParaRPr lang="en-US" sz="1200" dirty="0"/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200" dirty="0"/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200" dirty="0"/>
              <a:t>First Use: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200" dirty="0"/>
              <a:t>1. Upload Data: Import your Excel file or JSON URL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200" dirty="0"/>
              <a:t>2. Select Products: Choose products for labeling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200" dirty="0"/>
              <a:t>3. Generate Labels: Create your first set of labels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200" dirty="0"/>
              <a:t>4. Customize: Adjust templates and settings as needed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200" dirty="0"/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200" dirty="0"/>
              <a:t>Support: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200" dirty="0"/>
              <a:t>• Documentation: Comprehensive guides and tutorials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200" dirty="0"/>
              <a:t>• GitHub Repository: Open source with community support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200" dirty="0"/>
              <a:t>• Regular Updates: Continuous improvements and features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CD3AB31-A71C-4414-BA05-CF667CBA3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89945" y="3404996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3" y="1914812"/>
            <a:ext cx="6858000" cy="3028377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14" y="1924949"/>
            <a:ext cx="6857999" cy="302837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263195" y="4092815"/>
            <a:ext cx="2501979" cy="302838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376302" y="969718"/>
            <a:ext cx="292526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914820" y="1904672"/>
            <a:ext cx="6858003" cy="3028376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041" y="586855"/>
            <a:ext cx="2401025" cy="3387497"/>
          </a:xfrm>
        </p:spPr>
        <p:txBody>
          <a:bodyPr anchor="b">
            <a:normAutofit/>
          </a:bodyPr>
          <a:lstStyle/>
          <a:p>
            <a:pPr algn="r"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3500">
                <a:solidFill>
                  <a:srgbClr val="FFFFFF"/>
                </a:solidFill>
              </a:rPr>
              <a:t>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7694" y="649480"/>
            <a:ext cx="4916510" cy="5546047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700"/>
              <a:t>🔮 Upcoming Features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700"/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700"/>
              <a:t>Planned Enhancements: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700"/>
              <a:t>• Mobile App: Native mobile application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700"/>
              <a:t>• Advanced Analytics: Product performance insights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700"/>
              <a:t>• Integration APIs: More POS system connections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700"/>
              <a:t>• Template Designer: Visual template creation tool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700"/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700"/>
              <a:t>Community Features: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700"/>
              <a:t>• Template Sharing: Community template library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700"/>
              <a:t>• User Forums: Support and feature discussions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700"/>
              <a:t>• Beta Testing: Early access to new features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700"/>
              <a:t>• Feature Requests: Community-driven development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435ADAF7-9BEB-4FA3-AE9F-4CF47620EB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4735" y="431212"/>
            <a:ext cx="2565229" cy="1906317"/>
          </a:xfrm>
        </p:spPr>
        <p:txBody>
          <a:bodyPr>
            <a:normAutofit/>
          </a:bodyPr>
          <a:lstStyle/>
          <a:p>
            <a:pPr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2400"/>
              <a:t>Conclusion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7BB0BA7-0383-4937-8874-B01AAA08E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68743"/>
            <a:ext cx="3232716" cy="408925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 descr="Label">
            <a:extLst>
              <a:ext uri="{FF2B5EF4-FFF2-40B4-BE49-F238E27FC236}">
                <a16:creationId xmlns:a16="http://schemas.microsoft.com/office/drawing/2014/main" id="{5112B012-709F-0F88-C15E-B7F6A45B28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4452" y="3461465"/>
            <a:ext cx="2703812" cy="2703812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20132" y="678955"/>
            <a:ext cx="4189836" cy="5409743"/>
          </a:xfrm>
        </p:spPr>
        <p:txBody>
          <a:bodyPr anchor="ctr">
            <a:normAutofit/>
          </a:bodyPr>
          <a:lstStyle/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/>
              <a:t>🎉 Summary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600"/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/>
              <a:t>Label Maker Delivers: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/>
              <a:t>• Professional Results: High-quality, compliant labels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/>
              <a:t>• Time Efficiency: Dramatic reduction in manual work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/>
              <a:t>• Easy to Use: Intuitive interface for all skill levels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/>
              <a:t>• Scalable Solution: Grows with your business needs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600"/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/>
              <a:t>Ready to Get Started?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/>
              <a:t>• Free to Use: Open source with no licensing fees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/>
              <a:t>• Easy Setup: Quick installation and configuration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/>
              <a:t>• Comprehensive Support: Documentation and community help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/>
              <a:t>• Continuous Improvement: Regular updates and enhancements</a:t>
            </a:r>
          </a:p>
          <a:p>
            <a:pPr marL="0" indent="0">
              <a:lnSpc>
                <a:spcPct val="90000"/>
              </a:lnSpc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60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CD3AB31-A71C-4414-BA05-CF667CBA3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89945" y="3404996"/>
            <a:ext cx="6858002" cy="48006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Slide Background Fill">
            <a:extLst>
              <a:ext uri="{FF2B5EF4-FFF2-40B4-BE49-F238E27FC236}">
                <a16:creationId xmlns:a16="http://schemas.microsoft.com/office/drawing/2014/main" id="{44D65982-4F00-4330-8DAA-DE6A9E4D6D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olor Cover">
            <a:extLst>
              <a:ext uri="{FF2B5EF4-FFF2-40B4-BE49-F238E27FC236}">
                <a16:creationId xmlns:a16="http://schemas.microsoft.com/office/drawing/2014/main" id="{56AD21CA-472C-4EA1-A897-F639017AFE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bg2"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29A5F49-8CEE-44D2-A717-96965326A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9141714" cy="6858000"/>
            <a:chOff x="651279" y="598259"/>
            <a:chExt cx="10889442" cy="5680742"/>
          </a:xfrm>
        </p:grpSpPr>
        <p:sp>
          <p:nvSpPr>
            <p:cNvPr id="13" name="Color">
              <a:extLst>
                <a:ext uri="{FF2B5EF4-FFF2-40B4-BE49-F238E27FC236}">
                  <a16:creationId xmlns:a16="http://schemas.microsoft.com/office/drawing/2014/main" id="{A4758941-095E-4760-9F3E-0E9F079AA24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9BA7B350-F1EB-47CD-8531-349F4BD68B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16200000">
            <a:off x="-994410" y="1947672"/>
            <a:ext cx="4471416" cy="2788920"/>
          </a:xfrm>
        </p:spPr>
        <p:txBody>
          <a:bodyPr anchor="ctr">
            <a:normAutofit/>
          </a:bodyPr>
          <a:lstStyle/>
          <a:p>
            <a:pPr algn="l"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4200">
                <a:solidFill>
                  <a:schemeClr val="bg1"/>
                </a:solidFill>
              </a:rPr>
              <a:t>Questions &amp; Discussion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C05FE506-AB9A-470B-89C8-008269966F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536475" y="252484"/>
            <a:ext cx="4683084" cy="624411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51188" y="540048"/>
            <a:ext cx="4239072" cy="5641293"/>
          </a:xfrm>
        </p:spPr>
        <p:txBody>
          <a:bodyPr anchor="ctr">
            <a:normAutofit/>
          </a:bodyPr>
          <a:lstStyle/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Thank You!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600">
              <a:solidFill>
                <a:schemeClr val="tx2"/>
              </a:solidFill>
            </a:endParaRP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Questions?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Technical implementation details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Customization options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Deployment assistance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Feature requests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endParaRPr lang="en-US" sz="1600">
              <a:solidFill>
                <a:schemeClr val="tx2"/>
              </a:solidFill>
            </a:endParaRP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Next Steps: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Demo: Live application demonstration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Trial: Set up your own instance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Consultation: Discuss specific needs</a:t>
            </a:r>
          </a:p>
          <a:p>
            <a:pPr marL="0" indent="0">
              <a:buNone/>
              <a:defRPr sz="1800">
                <a:solidFill>
                  <a:srgbClr val="333333"/>
                </a:solidFill>
                <a:latin typeface="Arial"/>
              </a:defRPr>
            </a:pPr>
            <a:r>
              <a:rPr lang="en-US" sz="1600">
                <a:solidFill>
                  <a:schemeClr val="tx2"/>
                </a:solidFill>
              </a:rPr>
              <a:t>• Implementation: Plan your deployment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1266</Words>
  <Application>Microsoft Macintosh PowerPoint</Application>
  <PresentationFormat>On-screen Show (4:3)</PresentationFormat>
  <Paragraphs>240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Product Deck &amp; Support Documentation</vt:lpstr>
      <vt:lpstr>What is AGT Designer?</vt:lpstr>
      <vt:lpstr>Key Benefits</vt:lpstr>
      <vt:lpstr>Use Cases</vt:lpstr>
      <vt:lpstr>Core Features</vt:lpstr>
      <vt:lpstr>Advanced Features</vt:lpstr>
      <vt:lpstr>Workflow Demo</vt:lpstr>
      <vt:lpstr>User Interface</vt:lpstr>
      <vt:lpstr>Technical Architecture</vt:lpstr>
      <vt:lpstr>Data Sources</vt:lpstr>
      <vt:lpstr>Label Templates</vt:lpstr>
      <vt:lpstr>Web Server Setup</vt:lpstr>
      <vt:lpstr>Future Roadmap</vt:lpstr>
      <vt:lpstr>Conclusion</vt:lpstr>
      <vt:lpstr>Questions &amp; Discussion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Adam Cordova</cp:lastModifiedBy>
  <cp:revision>2</cp:revision>
  <dcterms:created xsi:type="dcterms:W3CDTF">2013-01-27T09:14:16Z</dcterms:created>
  <dcterms:modified xsi:type="dcterms:W3CDTF">2025-11-25T10:08:28Z</dcterms:modified>
  <cp:category/>
</cp:coreProperties>
</file>